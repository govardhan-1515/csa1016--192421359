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ARDHAN REDDY" userId="b01b38eca5f3ce8e" providerId="LiveId" clId="{8D74033A-5598-4C5C-99B0-E7B8B210E474}"/>
    <pc:docChg chg="custSel modSld">
      <pc:chgData name="GOVARDHAN REDDY" userId="b01b38eca5f3ce8e" providerId="LiveId" clId="{8D74033A-5598-4C5C-99B0-E7B8B210E474}" dt="2026-08-25T07:54:38.602" v="24" actId="20577"/>
      <pc:docMkLst>
        <pc:docMk/>
      </pc:docMkLst>
      <pc:sldChg chg="modSp mod">
        <pc:chgData name="GOVARDHAN REDDY" userId="b01b38eca5f3ce8e" providerId="LiveId" clId="{8D74033A-5598-4C5C-99B0-E7B8B210E474}" dt="2026-08-25T07:51:04.223" v="11" actId="20577"/>
        <pc:sldMkLst>
          <pc:docMk/>
          <pc:sldMk cId="0" sldId="256"/>
        </pc:sldMkLst>
        <pc:spChg chg="mod">
          <ac:chgData name="GOVARDHAN REDDY" userId="b01b38eca5f3ce8e" providerId="LiveId" clId="{8D74033A-5598-4C5C-99B0-E7B8B210E474}" dt="2026-08-25T07:51:04.223" v="11" actId="20577"/>
          <ac:spMkLst>
            <pc:docMk/>
            <pc:sldMk cId="0" sldId="256"/>
            <ac:spMk id="13" creationId="{00000000-0000-0000-0000-000000000000}"/>
          </ac:spMkLst>
        </pc:spChg>
      </pc:sldChg>
      <pc:sldChg chg="delSp modSp mod">
        <pc:chgData name="GOVARDHAN REDDY" userId="b01b38eca5f3ce8e" providerId="LiveId" clId="{8D74033A-5598-4C5C-99B0-E7B8B210E474}" dt="2026-08-25T07:54:38.602" v="24" actId="20577"/>
        <pc:sldMkLst>
          <pc:docMk/>
          <pc:sldMk cId="0" sldId="262"/>
        </pc:sldMkLst>
        <pc:spChg chg="del mod">
          <ac:chgData name="GOVARDHAN REDDY" userId="b01b38eca5f3ce8e" providerId="LiveId" clId="{8D74033A-5598-4C5C-99B0-E7B8B210E474}" dt="2026-08-25T07:52:16.220" v="13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GOVARDHAN REDDY" userId="b01b38eca5f3ce8e" providerId="LiveId" clId="{8D74033A-5598-4C5C-99B0-E7B8B210E474}" dt="2026-08-25T07:54:38.602" v="24" actId="20577"/>
          <ac:spMkLst>
            <pc:docMk/>
            <pc:sldMk cId="0" sldId="26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12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640080"/>
            <a:ext cx="1645920" cy="1645920"/>
          </a:xfrm>
          <a:prstGeom prst="ellipse">
            <a:avLst/>
          </a:prstGeom>
          <a:ln w="12700">
            <a:solidFill>
              <a:srgbClr val="00E8C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95360" y="91440"/>
            <a:ext cx="2743200" cy="2743200"/>
          </a:xfrm>
          <a:prstGeom prst="ellipse">
            <a:avLst/>
          </a:prstGeom>
          <a:ln w="12700">
            <a:solidFill>
              <a:srgbClr val="00E8C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-457200"/>
            <a:ext cx="3840480" cy="3840480"/>
          </a:xfrm>
          <a:prstGeom prst="ellipse">
            <a:avLst/>
          </a:prstGeom>
          <a:ln w="12700">
            <a:solidFill>
              <a:srgbClr val="00E8C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884664" y="1380744"/>
            <a:ext cx="164592" cy="164592"/>
          </a:xfrm>
          <a:prstGeom prst="ellipse">
            <a:avLst/>
          </a:prstGeom>
          <a:solidFill>
            <a:srgbClr val="00E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149840" y="4937760"/>
            <a:ext cx="914400" cy="914400"/>
          </a:xfrm>
          <a:prstGeom prst="ellipse">
            <a:avLst/>
          </a:prstGeom>
          <a:ln w="12700">
            <a:solidFill>
              <a:srgbClr val="4C2A8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84080" y="4572000"/>
            <a:ext cx="1645920" cy="1645920"/>
          </a:xfrm>
          <a:prstGeom prst="ellipse">
            <a:avLst/>
          </a:prstGeom>
          <a:ln w="12700">
            <a:solidFill>
              <a:srgbClr val="4C2A8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524744" y="5312664"/>
            <a:ext cx="164592" cy="164592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ON EMERGING TECHNOLOGIES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B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Machine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B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quantum superposition, entanglement, and interference meet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 to explore a new computational paradigm.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25400">
            <a:solidFill>
              <a:srgbClr val="4C2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CSA1016 — Software Engineering    </a:t>
            </a:r>
            <a:r>
              <a:rPr lang="en-US" sz="1250" b="1" dirty="0">
                <a:solidFill>
                  <a:srgbClr val="00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Assessed:  </a:t>
            </a: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257800"/>
            <a:ext cx="39239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 </a:t>
            </a: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AT2 — Seminar on Emerging Technologies                                                                                                                  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568" y="326095"/>
            <a:ext cx="119573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SIMATS Engineering (Saveetha School of Engineering)  |  Department of Computer Science and Engineering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CD303-85C3-2B0B-EA03-8AA91D215A98}"/>
              </a:ext>
            </a:extLst>
          </p:cNvPr>
          <p:cNvSpPr txBox="1"/>
          <p:nvPr/>
        </p:nvSpPr>
        <p:spPr>
          <a:xfrm>
            <a:off x="8383540" y="6009054"/>
            <a:ext cx="3697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192421359-A. Govardhan Reddy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BE6D9-8406-A830-8448-34D31DF6C15B}"/>
              </a:ext>
            </a:extLst>
          </p:cNvPr>
          <p:cNvSpPr txBox="1"/>
          <p:nvPr/>
        </p:nvSpPr>
        <p:spPr>
          <a:xfrm>
            <a:off x="777240" y="5791200"/>
            <a:ext cx="2715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Supervised By:</a:t>
            </a:r>
          </a:p>
          <a:p>
            <a:r>
              <a:rPr lang="en-IN" dirty="0">
                <a:solidFill>
                  <a:schemeClr val="bg1"/>
                </a:solidFill>
              </a:rPr>
              <a:t>Dr. Anitha </a:t>
            </a:r>
            <a:r>
              <a:rPr lang="en-IN" dirty="0" err="1">
                <a:solidFill>
                  <a:schemeClr val="bg1"/>
                </a:solidFill>
              </a:rPr>
              <a:t>Davamani</a:t>
            </a:r>
            <a:r>
              <a:rPr lang="en-IN" dirty="0">
                <a:solidFill>
                  <a:schemeClr val="bg1"/>
                </a:solidFill>
              </a:rPr>
              <a:t>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1148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•  NEED AND MOTIVATION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0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QML, and Why Does It Matter Now?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929384"/>
            <a:ext cx="6373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interdisciplinary, hybrid field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33272" y="2231136"/>
            <a:ext cx="6373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merges quantum computing with classical machine learning; a classical loop still wraps the quantum subroutine in 2026.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2807208"/>
            <a:ext cx="6373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quantum phenomena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33272" y="3108960"/>
            <a:ext cx="6373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Superposition, entanglement, and interference are exploited to represent and process information.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3272" y="3685032"/>
            <a:ext cx="6373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is hitting scaling limits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33272" y="3986784"/>
            <a:ext cx="6373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High-dimensional, complex datasets push classical models toward steep compute and memory costs.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626864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626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33272" y="4562856"/>
            <a:ext cx="6373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states scale exponentially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33272" y="4864608"/>
            <a:ext cx="6373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qubits naturally span a 2^n-dimensional space — a compact representation for structured data.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504688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5504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33272" y="5440680"/>
            <a:ext cx="6373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access is growing fast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33272" y="5742432"/>
            <a:ext cx="6373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Cloud-accessible processors (IBM, Google, IonQ) plus industry pull from finance and pharma are driving real pilots.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818120" y="1965960"/>
            <a:ext cx="3886200" cy="4343400"/>
          </a:xfrm>
          <a:prstGeom prst="roundRect">
            <a:avLst>
              <a:gd name="adj" fmla="val 2824"/>
            </a:avLst>
          </a:prstGeom>
          <a:solidFill>
            <a:srgbClr val="140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25712" y="3108960"/>
            <a:ext cx="1280160" cy="1280160"/>
          </a:xfrm>
          <a:prstGeom prst="ellipse">
            <a:avLst/>
          </a:prstGeom>
          <a:ln w="12700">
            <a:solidFill>
              <a:srgbClr val="00E8C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714232" y="2697480"/>
            <a:ext cx="2103120" cy="2103120"/>
          </a:xfrm>
          <a:prstGeom prst="ellipse">
            <a:avLst/>
          </a:prstGeom>
          <a:ln w="12700">
            <a:solidFill>
              <a:srgbClr val="00E8C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48472" y="2331720"/>
            <a:ext cx="2834640" cy="2834640"/>
          </a:xfrm>
          <a:prstGeom prst="ellipse">
            <a:avLst/>
          </a:prstGeom>
          <a:ln w="12700">
            <a:solidFill>
              <a:srgbClr val="00E8C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683496" y="3666744"/>
            <a:ext cx="164592" cy="164592"/>
          </a:xfrm>
          <a:prstGeom prst="ellipse">
            <a:avLst/>
          </a:prstGeom>
          <a:solidFill>
            <a:srgbClr val="00E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01000" y="5074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B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α|0⟩ + β|1⟩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01000" y="55321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qubit's superposition state — the basic unit of quantum data encoding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0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1148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 •  KEY COMPONENTS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QML Model Actually Runs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1E1550"/>
          </a:solidFill>
          <a:ln w="12700">
            <a:solidFill>
              <a:srgbClr val="4C2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68196" y="2167128"/>
            <a:ext cx="475488" cy="47548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68196" y="2167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Encoding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324612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inputs mapped onto qubits via amplitude / angle encoding.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18104" y="28575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64992" y="19659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1E1550"/>
          </a:solidFill>
          <a:ln w="12700">
            <a:solidFill>
              <a:srgbClr val="4C2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30268" y="2167128"/>
            <a:ext cx="475488" cy="47548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30268" y="2167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0215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Circuit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9584" y="324612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trainable ansatz transforms the state using tunable gate parameters.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0176" y="28575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27064" y="19659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1E1550"/>
          </a:solidFill>
          <a:ln w="12700">
            <a:solidFill>
              <a:srgbClr val="4C2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92340" y="2167128"/>
            <a:ext cx="475488" cy="47548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292340" y="2167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64224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91656" y="324612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measured, collapsing states into classical outputs.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42248" y="28575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89136" y="19659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1E1550"/>
          </a:solidFill>
          <a:ln w="12700">
            <a:solidFill>
              <a:srgbClr val="4C2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154412" y="2167128"/>
            <a:ext cx="475488" cy="47548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154412" y="2167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26296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53728" y="324612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optimizer updates parameters (e.g. parameter-shift rule) each cycle.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553712"/>
            <a:ext cx="11155680" cy="0"/>
          </a:xfrm>
          <a:prstGeom prst="line">
            <a:avLst/>
          </a:prstGeom>
          <a:noFill/>
          <a:ln w="12700">
            <a:solidFill>
              <a:srgbClr val="4C2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461772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blocks: Variational Quantum Algorithms (QAOA, VQE), quantum kernels &amp; feature maps, Quantum Neural Networks, and Quantum Circuit Born Machines — built with frameworks like PennyLane, Qiskit ML, and TensorFlow Quantum.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1148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 •  ADVANTAGES AND 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0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QML Is Used, and Where It Still Falls Short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220370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&amp; materials science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505456"/>
            <a:ext cx="4956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/ quantum-chemistry simulation for faster candidate and material screening.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341071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33272" y="3712464"/>
            <a:ext cx="4956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optimization, fraud detection, and Monte Carlo risk sampling.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681728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" y="461772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logistics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33272" y="4919472"/>
            <a:ext cx="4956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and QAOA-driven routing / scheduling optimization.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vs LIMITATIONS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26771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5508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5432" y="22037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— compact representation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85432" y="2505456"/>
            <a:ext cx="4864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large state spaces and novel quantum kernels are hard for classical methods to replicate.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474720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5508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85432" y="341071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NISQ-era constraints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885432" y="3712464"/>
            <a:ext cx="4864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hardware, barren plateaus in training, and costly data encoding limit today's practical gains.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1148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DEVELOPMENTS  •  CHALLENGES AND 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Changing, What's Hard, What's Next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929384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Quantum-native architectures are trending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33272" y="2231136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groups design circuits around what quantum computers do naturally (e.g. quantum Fourier-based methods) instead of just “quantizing” neural nets.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2770632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now tunes quantum hardware too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33272" y="3072384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calibration frameworks cut required measurement points by up to 70% in qubit tuning; error mitigation improves NISQ usability.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3272" y="36118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barren plateaus remain open challenges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33272" y="3913632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systems need thousands of stable logical qubits, and vanishing gradients still hinder deep circuit training.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517136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33272" y="4453128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is still immature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33272" y="4754880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standardization and reproducibility make claimed advantages hard to compare across studies.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358384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5358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33272" y="5294376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B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centers on fault tolerance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33272" y="5596128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Error-corrected hardware and quantum-native data problems are expected to define where real advantage emerges.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1148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CONCLUSION AND REFERENCES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0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Example, and What It Tells Us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94767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883664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NIST's ML-driven qubit calibration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33272" y="2185416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trained to recognize quantum states from sensor data cut required measurement points by ~70%, without losing accuracy.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2706624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33272" y="3008376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near-term crossover where machine learning strengthens quantum hardware — not only the reverse.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9359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3272" y="3529584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complements, not replaces, classical ML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33272" y="3831336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remains hybrid by default, with a classical loop wrapping every quantum subroutine.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41655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33272" y="4352544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value is narrow but real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33272" y="4654296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cluster around NISQ-assisted optimization and quantum-native data, not broad neural-network speed-ups.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4C2A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33272" y="5175504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promise depends on fault tolerance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33272" y="5477256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interdisciplinary research is essential to convert theoretical promise into verified real-world advantage.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5989320"/>
            <a:ext cx="11155680" cy="0"/>
          </a:xfrm>
          <a:prstGeom prst="line">
            <a:avLst/>
          </a:prstGeom>
          <a:noFill/>
          <a:ln w="12700">
            <a:solidFill>
              <a:srgbClr val="E1D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Usman (2026) Quantum Technologies, Springer  •  PennyLane/Xanadu Blog (2026)  •  IBM Research QIP 2026 survey  •  NIST (2026) qubit-tuning framework  •  Quantum Zeitgeist (2026)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0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4" y="2103120"/>
            <a:ext cx="2011680" cy="2011680"/>
          </a:xfrm>
          <a:prstGeom prst="ellipse">
            <a:avLst/>
          </a:prstGeom>
          <a:ln w="12700">
            <a:solidFill>
              <a:srgbClr val="00E8C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35424" y="1554480"/>
            <a:ext cx="3108960" cy="3108960"/>
          </a:xfrm>
          <a:prstGeom prst="ellipse">
            <a:avLst/>
          </a:prstGeom>
          <a:ln w="12700">
            <a:solidFill>
              <a:srgbClr val="00E8C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986784" y="1005840"/>
            <a:ext cx="4206240" cy="4206240"/>
          </a:xfrm>
          <a:prstGeom prst="ellipse">
            <a:avLst/>
          </a:prstGeom>
          <a:ln w="12700">
            <a:solidFill>
              <a:srgbClr val="00E8C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BF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  •  Seminar on Emerging </a:t>
            </a:r>
            <a:r>
              <a:rPr lang="en-US" sz="1050">
                <a:solidFill>
                  <a:srgbClr val="6C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 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788</Words>
  <Application>Microsoft Office PowerPoint</Application>
  <PresentationFormat>Widescreen</PresentationFormat>
  <Paragraphs>121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GOVARDHAN REDDY</cp:lastModifiedBy>
  <cp:revision>5</cp:revision>
  <dcterms:created xsi:type="dcterms:W3CDTF">2026-08-25T04:14:51Z</dcterms:created>
  <dcterms:modified xsi:type="dcterms:W3CDTF">2026-08-25T07:54:40Z</dcterms:modified>
</cp:coreProperties>
</file>